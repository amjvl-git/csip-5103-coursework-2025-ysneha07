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6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62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704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83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96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578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86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745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93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55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566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89428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820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4351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6531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5347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679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78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2281" y="780692"/>
            <a:ext cx="6600451" cy="2262781"/>
          </a:xfrm>
        </p:spPr>
        <p:txBody>
          <a:bodyPr>
            <a:normAutofit fontScale="90000"/>
          </a:bodyPr>
          <a:lstStyle/>
          <a:p>
            <a:r>
              <a:rPr dirty="0"/>
              <a:t>A Neural Network Model for Fashion-MNIST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t>Sneha Yenugula (P2899592)</a:t>
            </a:r>
          </a:p>
          <a:p>
            <a:r>
              <a:t>Neural Networks</a:t>
            </a:r>
          </a:p>
          <a:p>
            <a:r>
              <a:t>04 November 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C9903F-A884-6A67-BC75-07E8B4EE0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454" y="3092064"/>
            <a:ext cx="963285" cy="144492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b="1" dirty="0"/>
              <a:t>Fashion-MNIST dataset</a:t>
            </a:r>
            <a:r>
              <a:rPr dirty="0"/>
              <a:t>: 70,000 grayscale 28x28 images of clothing items.</a:t>
            </a:r>
          </a:p>
          <a:p>
            <a:pPr>
              <a:defRPr sz="1800"/>
            </a:pPr>
            <a:r>
              <a:rPr b="1" dirty="0"/>
              <a:t>Challenge</a:t>
            </a:r>
            <a:r>
              <a:rPr dirty="0"/>
              <a:t>: Recognize and classify clothing items accurately using ANN and CNN.</a:t>
            </a:r>
          </a:p>
          <a:p>
            <a:pPr>
              <a:defRPr sz="1800"/>
            </a:pPr>
            <a:r>
              <a:rPr b="1" dirty="0"/>
              <a:t>Motivation</a:t>
            </a:r>
            <a:r>
              <a:rPr dirty="0"/>
              <a:t>: Investigate how model architecture, regularization, and hyperparameter tuning affect performance.</a:t>
            </a:r>
          </a:p>
          <a:p>
            <a:pPr>
              <a:defRPr sz="1800"/>
            </a:pPr>
            <a:r>
              <a:rPr b="1" dirty="0"/>
              <a:t>Focus</a:t>
            </a:r>
            <a:r>
              <a:rPr dirty="0"/>
              <a:t>: Compare ANN (fully connected) vs CNN (convolutional) models for image classification tasks.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Objectives /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pPr>
              <a:defRPr sz="1800"/>
            </a:pPr>
            <a:r>
              <a:t>Evaluate and compare test accuracy of ANN and CNN over multiple epochs.</a:t>
            </a:r>
          </a:p>
          <a:p>
            <a:pPr>
              <a:defRPr sz="1800"/>
            </a:pPr>
            <a:r>
              <a:t>Analyze convergence speed, validation trends, and learning stability.</a:t>
            </a:r>
          </a:p>
          <a:p>
            <a:pPr>
              <a:defRPr sz="1800"/>
            </a:pPr>
            <a:r>
              <a:t>Examine class-level performance using confusion matrices.</a:t>
            </a:r>
          </a:p>
          <a:p>
            <a:pPr>
              <a:defRPr sz="1800"/>
            </a:pPr>
            <a:r>
              <a:t>Understand impact of architecture, regularization (dropout), and tuned hyperparameters on performance.</a:t>
            </a:r>
          </a:p>
          <a:p>
            <a:pPr>
              <a:defRPr sz="1800"/>
            </a:pPr>
            <a:r>
              <a:t>Provide a technical foundation for improving image classification models in future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Methodology /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8853" y="1777041"/>
            <a:ext cx="7145547" cy="4813539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ANN: 4-layer MLP (Flatten → 512 → 256 → 128 → 10) with </a:t>
            </a:r>
            <a:r>
              <a:rPr dirty="0" err="1"/>
              <a:t>ReLU</a:t>
            </a:r>
            <a:r>
              <a:rPr dirty="0"/>
              <a:t> and Dropout(0.2).</a:t>
            </a:r>
          </a:p>
          <a:p>
            <a:pPr>
              <a:defRPr sz="1800"/>
            </a:pPr>
            <a:r>
              <a:rPr dirty="0"/>
              <a:t>CNN: 2 convolutional blocks with </a:t>
            </a:r>
            <a:r>
              <a:rPr dirty="0" err="1"/>
              <a:t>BatchNorm</a:t>
            </a:r>
            <a:r>
              <a:rPr dirty="0"/>
              <a:t>, </a:t>
            </a:r>
            <a:r>
              <a:rPr dirty="0" err="1"/>
              <a:t>MaxPooling</a:t>
            </a:r>
            <a:r>
              <a:rPr dirty="0"/>
              <a:t>, Dropout2D(0.25), then Dense layer 512→10.</a:t>
            </a:r>
          </a:p>
          <a:p>
            <a:pPr>
              <a:defRPr sz="1800"/>
            </a:pPr>
            <a:r>
              <a:rPr dirty="0"/>
              <a:t>Training: Adam optimizer, </a:t>
            </a:r>
            <a:r>
              <a:rPr dirty="0" err="1"/>
              <a:t>lr</a:t>
            </a:r>
            <a:r>
              <a:rPr dirty="0"/>
              <a:t>=0.001, weight decay=1e-4, batch size 128, epochs: 5/8/10.</a:t>
            </a:r>
          </a:p>
          <a:p>
            <a:pPr>
              <a:defRPr sz="1800"/>
            </a:pPr>
            <a:r>
              <a:rPr dirty="0"/>
              <a:t>Validation: </a:t>
            </a:r>
            <a:r>
              <a:rPr dirty="0" err="1"/>
              <a:t>ReduceLROnPlateau</a:t>
            </a:r>
            <a:r>
              <a:rPr dirty="0"/>
              <a:t> scheduler for adaptive learning rate.</a:t>
            </a:r>
            <a:endParaRPr lang="en-IN" dirty="0"/>
          </a:p>
          <a:p>
            <a:pPr marL="0" indent="0">
              <a:buNone/>
              <a:defRPr sz="1800"/>
            </a:pPr>
            <a:endParaRPr lang="en-IN" dirty="0"/>
          </a:p>
          <a:p>
            <a:pPr marL="0" indent="0">
              <a:buNone/>
              <a:defRPr sz="1800"/>
            </a:pPr>
            <a:r>
              <a:rPr lang="en-IN" dirty="0"/>
              <a:t> Load Dataset  →  Data Preprocessing  → Model Initialization </a:t>
            </a:r>
          </a:p>
          <a:p>
            <a:pPr marL="0" indent="0">
              <a:buNone/>
              <a:defRPr sz="1800"/>
            </a:pPr>
            <a:endParaRPr lang="en-IN" dirty="0"/>
          </a:p>
          <a:p>
            <a:pPr marL="0" indent="0">
              <a:buNone/>
              <a:defRPr sz="1800"/>
            </a:pPr>
            <a:r>
              <a:rPr lang="en-IN" dirty="0"/>
              <a:t>    Training → Validation → Testing → Evaluation &amp; Visualization</a:t>
            </a:r>
          </a:p>
          <a:p>
            <a:pPr marL="0" indent="0">
              <a:buNone/>
              <a:defRPr sz="1800"/>
            </a:pP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24E116-A79F-13F6-60B6-957C39D2CAA5}"/>
              </a:ext>
            </a:extLst>
          </p:cNvPr>
          <p:cNvSpPr/>
          <p:nvPr/>
        </p:nvSpPr>
        <p:spPr>
          <a:xfrm>
            <a:off x="1509623" y="5244860"/>
            <a:ext cx="1595886" cy="3968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1FFE5B-474D-A38E-DE67-0C4310BDF2F9}"/>
              </a:ext>
            </a:extLst>
          </p:cNvPr>
          <p:cNvSpPr/>
          <p:nvPr/>
        </p:nvSpPr>
        <p:spPr>
          <a:xfrm>
            <a:off x="3459192" y="5244860"/>
            <a:ext cx="2234242" cy="3968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7F034E-1EC2-399C-20F6-76906F703BE5}"/>
              </a:ext>
            </a:extLst>
          </p:cNvPr>
          <p:cNvSpPr/>
          <p:nvPr/>
        </p:nvSpPr>
        <p:spPr>
          <a:xfrm>
            <a:off x="6090249" y="5244860"/>
            <a:ext cx="2156604" cy="3968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441662-B3A5-AEE4-F1F6-A9410FE9CAEF}"/>
              </a:ext>
            </a:extLst>
          </p:cNvPr>
          <p:cNvSpPr/>
          <p:nvPr/>
        </p:nvSpPr>
        <p:spPr>
          <a:xfrm>
            <a:off x="1690777" y="6081623"/>
            <a:ext cx="1000665" cy="388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1B78AA-6FFF-0D7F-0B8E-D3ADC2CDABEB}"/>
              </a:ext>
            </a:extLst>
          </p:cNvPr>
          <p:cNvSpPr/>
          <p:nvPr/>
        </p:nvSpPr>
        <p:spPr>
          <a:xfrm>
            <a:off x="2889851" y="6072995"/>
            <a:ext cx="1291086" cy="3968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86E291-7A90-7CDD-6F80-7F7A22708256}"/>
              </a:ext>
            </a:extLst>
          </p:cNvPr>
          <p:cNvSpPr/>
          <p:nvPr/>
        </p:nvSpPr>
        <p:spPr>
          <a:xfrm>
            <a:off x="4379346" y="6072995"/>
            <a:ext cx="917273" cy="3968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7EAD27-C87E-9AAD-1ABB-C9C2DF27576D}"/>
              </a:ext>
            </a:extLst>
          </p:cNvPr>
          <p:cNvSpPr/>
          <p:nvPr/>
        </p:nvSpPr>
        <p:spPr>
          <a:xfrm>
            <a:off x="5503655" y="6072995"/>
            <a:ext cx="2812211" cy="3968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0C950E7C-B15F-28E0-FBE8-7CF47A70C8C1}"/>
              </a:ext>
            </a:extLst>
          </p:cNvPr>
          <p:cNvCxnSpPr>
            <a:cxnSpLocks/>
          </p:cNvCxnSpPr>
          <p:nvPr/>
        </p:nvCxnSpPr>
        <p:spPr>
          <a:xfrm rot="10800000">
            <a:off x="2096220" y="5801262"/>
            <a:ext cx="6438181" cy="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BC9B8DA-D19F-4F91-CBBD-814E7E53298C}"/>
              </a:ext>
            </a:extLst>
          </p:cNvPr>
          <p:cNvCxnSpPr>
            <a:endCxn id="7" idx="0"/>
          </p:cNvCxnSpPr>
          <p:nvPr/>
        </p:nvCxnSpPr>
        <p:spPr>
          <a:xfrm>
            <a:off x="2096218" y="5801262"/>
            <a:ext cx="0" cy="271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7A10891-1840-552E-B020-8269FE318C7D}"/>
              </a:ext>
            </a:extLst>
          </p:cNvPr>
          <p:cNvCxnSpPr/>
          <p:nvPr/>
        </p:nvCxnSpPr>
        <p:spPr>
          <a:xfrm>
            <a:off x="8246853" y="5443267"/>
            <a:ext cx="287548" cy="3579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Data / Materials / Inputs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Dataset split: 48k training, 12k validation, 10k testing samples.</a:t>
            </a:r>
          </a:p>
          <a:p>
            <a:pPr>
              <a:defRPr sz="1800"/>
            </a:pPr>
            <a:r>
              <a:t>Preprocessing: Normalize to [-1,1], convert to tensors, shuffle training set.</a:t>
            </a:r>
          </a:p>
          <a:p>
            <a:pPr>
              <a:defRPr sz="1800"/>
            </a:pPr>
            <a:r>
              <a:t>Key parameters: batch size 128, reproducible splits, consistent data pipeline.</a:t>
            </a:r>
          </a:p>
          <a:p>
            <a:pPr>
              <a:defRPr sz="1800"/>
            </a:pPr>
            <a:r>
              <a:t>Tools: PyTorch for model implementation and training, Matplotlib &amp; Seaborn for visualization.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Implementation /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Step 1: Load and preprocess Fashion-MNIST data.</a:t>
            </a:r>
          </a:p>
          <a:p>
            <a:pPr>
              <a:defRPr sz="1800"/>
            </a:pPr>
            <a:r>
              <a:rPr dirty="0"/>
              <a:t>Step 2: Initialize ANN and CNN models with tuned hyperparameters.</a:t>
            </a:r>
          </a:p>
          <a:p>
            <a:pPr>
              <a:defRPr sz="1800"/>
            </a:pPr>
            <a:r>
              <a:rPr dirty="0"/>
              <a:t>Step 3: Train models for 5, 8, 10 epochs and record training/validation metrics.</a:t>
            </a:r>
          </a:p>
          <a:p>
            <a:pPr>
              <a:defRPr sz="1800"/>
            </a:pPr>
            <a:r>
              <a:rPr dirty="0"/>
              <a:t>Step 4: Evaluate on validation and test sets; save best-performing models.</a:t>
            </a:r>
          </a:p>
          <a:p>
            <a:pPr>
              <a:defRPr sz="1800"/>
            </a:pPr>
            <a:r>
              <a:rPr dirty="0"/>
              <a:t>Step 5: Generate graphs: training loss, validation loss, accuracy trends.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97898"/>
            <a:ext cx="6589199" cy="1280890"/>
          </a:xfrm>
        </p:spPr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rPr dirty="0"/>
              <a:t>Results /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9629" y="370936"/>
            <a:ext cx="6591985" cy="5943600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pPr>
              <a:defRPr sz="1800"/>
            </a:pPr>
            <a:r>
              <a:rPr dirty="0"/>
              <a:t>Validation Accuracy: ANN 82.6→88.3%, CNN 89.0→92.9% over 10 epochs.</a:t>
            </a:r>
          </a:p>
          <a:p>
            <a:pPr>
              <a:defRPr sz="1800"/>
            </a:pPr>
            <a:r>
              <a:rPr dirty="0"/>
              <a:t>Test Accuracy (5/8/10 epochs): ANN 85.9/87.1/87.4%, CNN 92.2/92.4/92.5%.</a:t>
            </a:r>
          </a:p>
          <a:p>
            <a:pPr>
              <a:defRPr sz="1800"/>
            </a:pPr>
            <a:r>
              <a:rPr dirty="0"/>
              <a:t>CNN consistently outperforms ANN due to spatial feature extraction.</a:t>
            </a:r>
          </a:p>
          <a:p>
            <a:pPr>
              <a:defRPr sz="1800"/>
            </a:pPr>
            <a:r>
              <a:rPr dirty="0"/>
              <a:t>Observations: Faster convergence, smoother learning curves, lower misclassification rates.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198E29-500A-6E90-ED81-97EBB70D2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195" y="3647061"/>
            <a:ext cx="3755609" cy="24690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rPr lang="en-IN" dirty="0"/>
              <a:t>Discussion / Interpretation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3141" y="1759789"/>
            <a:ext cx="6921260" cy="4942936"/>
          </a:xfrm>
        </p:spPr>
        <p:txBody>
          <a:bodyPr/>
          <a:lstStyle/>
          <a:p>
            <a:endParaRPr dirty="0"/>
          </a:p>
          <a:p>
            <a:pPr>
              <a:defRPr sz="1800"/>
            </a:pPr>
            <a:r>
              <a:rPr lang="en-US" dirty="0"/>
              <a:t>ANN shows confusion between visually similar classes (</a:t>
            </a:r>
            <a:r>
              <a:rPr lang="en-US" dirty="0" err="1"/>
              <a:t>Shirt→Coat</a:t>
            </a:r>
            <a:r>
              <a:rPr lang="en-US" dirty="0"/>
              <a:t>: 92 errors). </a:t>
            </a:r>
          </a:p>
          <a:p>
            <a:pPr>
              <a:defRPr sz="1800"/>
            </a:pPr>
            <a:r>
              <a:rPr lang="en-US" dirty="0"/>
              <a:t>CNN reduces this confusion to 54, demonstrating superior spatial feature extraction.</a:t>
            </a:r>
            <a:endParaRPr dirty="0"/>
          </a:p>
          <a:p>
            <a:pPr>
              <a:defRPr sz="1800"/>
            </a:pPr>
            <a:r>
              <a:rPr lang="en-US" dirty="0"/>
              <a:t>Overall, CNN achieves higher per-class precision and recall. </a:t>
            </a:r>
          </a:p>
          <a:p>
            <a:pPr>
              <a:defRPr sz="1800"/>
            </a:pPr>
            <a:r>
              <a:rPr lang="en-US" b="1" dirty="0"/>
              <a:t>Insight</a:t>
            </a:r>
            <a:r>
              <a:rPr lang="en-US" dirty="0"/>
              <a:t>: Convolutional layers effectively capture hierarchical patterns (edges → textures → object).</a:t>
            </a:r>
          </a:p>
          <a:p>
            <a:pPr>
              <a:defRPr sz="1800"/>
            </a:pPr>
            <a:r>
              <a:rPr lang="en-US" b="1" dirty="0"/>
              <a:t>Challenges</a:t>
            </a:r>
            <a:r>
              <a:rPr lang="en-US" dirty="0"/>
              <a:t>: Misclassification persists for similar textures; handled via Dropout and batch normalization.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Predictions /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0875" y="1383102"/>
            <a:ext cx="6591985" cy="3777622"/>
          </a:xfrm>
        </p:spPr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Visual examples of CNN predictions (epoch 10).</a:t>
            </a:r>
          </a:p>
          <a:p>
            <a:pPr>
              <a:defRPr sz="1800"/>
            </a:pPr>
            <a:r>
              <a:rPr dirty="0"/>
              <a:t>Green = Correct prediction, Red = Incorrect prediction.</a:t>
            </a:r>
          </a:p>
          <a:p>
            <a:pPr>
              <a:defRPr sz="1800"/>
            </a:pPr>
            <a:r>
              <a:rPr dirty="0"/>
              <a:t>Demonstrates CNN's ability to correctly classify difficult items.</a:t>
            </a:r>
          </a:p>
          <a:p>
            <a:pPr>
              <a:defRPr sz="1800"/>
            </a:pPr>
            <a:r>
              <a:rPr dirty="0"/>
              <a:t>Highlights the effectiveness of convolutional layers and dropout for generalization.</a:t>
            </a:r>
          </a:p>
          <a:p>
            <a:pPr marL="0" indent="0">
              <a:buNone/>
              <a:defRPr sz="1800"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892E3B-F5E7-72B8-4335-F4310AB63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357" y="4198188"/>
            <a:ext cx="6211019" cy="25534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rPr dirty="0"/>
              <a:t>Conclusion / </a:t>
            </a:r>
            <a:r>
              <a:rPr lang="en-IN" dirty="0"/>
              <a:t>Summary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lang="en-IN" dirty="0"/>
              <a:t>Trained and evaluated ANN and CNN on Fashion-MNIST dataset.</a:t>
            </a:r>
          </a:p>
          <a:p>
            <a:r>
              <a:rPr lang="en-IN" dirty="0"/>
              <a:t>CNN outperforms ANN in validation and test accuracy across epochs.",</a:t>
            </a:r>
          </a:p>
          <a:p>
            <a:r>
              <a:rPr lang="en-IN" dirty="0"/>
              <a:t>Confusion matrices highlight CNN's improved per-class classification.</a:t>
            </a:r>
          </a:p>
          <a:p>
            <a:r>
              <a:rPr lang="en-IN" dirty="0"/>
              <a:t>CNN captures spatial hierarchies, enhancing accuracy for similar items.</a:t>
            </a:r>
          </a:p>
          <a:p>
            <a:r>
              <a:rPr lang="en-IN" dirty="0"/>
              <a:t>Regularization and hyperparameter tuning improved generalization.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2C82F-5199-DAFE-4BB9-BBBF25480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Work / Acknowledgments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B1F9-019D-BF88-1C50-6BC3C86DF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Apply data augmentation (rotations, flips, scaling) for robustness.</a:t>
            </a:r>
          </a:p>
          <a:p>
            <a:r>
              <a:rPr lang="en-IN" dirty="0"/>
              <a:t>Explore deeper CNNs (ResNet-18, </a:t>
            </a:r>
            <a:r>
              <a:rPr lang="en-IN" dirty="0" err="1"/>
              <a:t>EfficientNet</a:t>
            </a:r>
            <a:r>
              <a:rPr lang="en-IN" dirty="0"/>
              <a:t>) for higher accuracy.</a:t>
            </a:r>
          </a:p>
          <a:p>
            <a:r>
              <a:rPr lang="en-IN" dirty="0"/>
              <a:t>Experiment with advanced LR schedules and optimizers.</a:t>
            </a:r>
          </a:p>
          <a:p>
            <a:r>
              <a:rPr lang="en-IN" dirty="0"/>
              <a:t>Acknowledgments: Fashion-MNIST dataset, </a:t>
            </a:r>
            <a:r>
              <a:rPr lang="en-IN" dirty="0" err="1"/>
              <a:t>PyTorch</a:t>
            </a:r>
            <a:r>
              <a:rPr lang="en-IN" dirty="0"/>
              <a:t>, Matplotlib, Seaborn, supervisor/peers.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065885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69</TotalTime>
  <Words>638</Words>
  <Application>Microsoft Office PowerPoint</Application>
  <PresentationFormat>On-screen Show (4:3)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Wisp</vt:lpstr>
      <vt:lpstr>A Neural Network Model for Fashion-MNIST Classification</vt:lpstr>
      <vt:lpstr>Introduction</vt:lpstr>
      <vt:lpstr>Objectives / Goals</vt:lpstr>
      <vt:lpstr>Methodology / Approach</vt:lpstr>
      <vt:lpstr>Data / Materials / Inputs</vt:lpstr>
      <vt:lpstr>Implementation / Process</vt:lpstr>
      <vt:lpstr>Results / Findings</vt:lpstr>
      <vt:lpstr>Discussion / Interpretation</vt:lpstr>
      <vt:lpstr>Predictions / Demonstration</vt:lpstr>
      <vt:lpstr>Conclusion / Summary</vt:lpstr>
      <vt:lpstr>Future Work / Acknowledgments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sneha</dc:creator>
  <cp:keywords/>
  <dc:description>generated using python-pptx</dc:description>
  <cp:lastModifiedBy>yenugula sneha</cp:lastModifiedBy>
  <cp:revision>2</cp:revision>
  <dcterms:created xsi:type="dcterms:W3CDTF">2013-01-27T09:14:16Z</dcterms:created>
  <dcterms:modified xsi:type="dcterms:W3CDTF">2025-11-04T22:27:41Z</dcterms:modified>
  <cp:category/>
</cp:coreProperties>
</file>